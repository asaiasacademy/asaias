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OneDrive\Документы\ASAIAS\presentations\assets\faculty-strategic-ai-man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9">
              <a:alpha val="72000"/>
            </a:srgbClr>
          </a:solidFill>
          <a:ln w="12700">
            <a:solidFill>
              <a:srgbClr val="101719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" y="438912"/>
            <a:ext cx="146304" cy="5806440"/>
          </a:xfrm>
          <a:prstGeom prst="roundRect">
            <a:avLst>
              <a:gd name="adj" fmla="val 25000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62179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DED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Академия стратегического управления ИИ и автономных систем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04672" y="1042416"/>
            <a:ext cx="6995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Факультет стратегического управления ИИ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2816352"/>
            <a:ext cx="6217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8F3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Формирует управленческий язык для постановки задач, контроля качества, риск-карт и распределения ответственности при применении ИИ.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400507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3C7456">
              <a:alpha val="95000"/>
            </a:srgbClr>
          </a:solidFill>
          <a:ln w="12700">
            <a:solidFill>
              <a:srgbClr val="3C745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409651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гипотеза</a:t>
            </a:r>
            <a:endParaRPr lang="en-US" sz="760" dirty="0"/>
          </a:p>
        </p:txBody>
      </p:sp>
      <p:sp>
        <p:nvSpPr>
          <p:cNvPr id="10" name="Shape 7"/>
          <p:cNvSpPr/>
          <p:nvPr/>
        </p:nvSpPr>
        <p:spPr>
          <a:xfrm>
            <a:off x="2523744" y="4005072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087F82">
              <a:alpha val="95000"/>
            </a:srgbClr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33472" y="4096512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слайдов</a:t>
            </a:r>
            <a:endParaRPr lang="en-US" sz="760" dirty="0"/>
          </a:p>
        </p:txBody>
      </p:sp>
      <p:sp>
        <p:nvSpPr>
          <p:cNvPr id="12" name="Shape 9"/>
          <p:cNvSpPr/>
          <p:nvPr/>
        </p:nvSpPr>
        <p:spPr>
          <a:xfrm>
            <a:off x="3730752" y="4005072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B27633">
              <a:alpha val="95000"/>
            </a:srgbClr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0" y="4096512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 неподтвержденных статусов</a:t>
            </a:r>
            <a:endParaRPr lang="en-US" sz="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АКАДЕМИЧЕСКАЯ РОЛЬ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Стратегическое управление ИИ: зачем факультет нужен академии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1645920"/>
            <a:ext cx="3931920" cy="4315968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pic>
        <p:nvPicPr>
          <p:cNvPr id="6" name="Image 0" descr="C:\Users\Admin\OneDrive\Документы\ASAIAS\presentations\assets\faculty-strategic-ai-man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691640"/>
            <a:ext cx="3840480" cy="42245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9164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1691640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856232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Миссия</a:t>
            </a:r>
            <a:endParaRPr lang="en-US" sz="1240" dirty="0"/>
          </a:p>
        </p:txBody>
      </p:sp>
      <p:sp>
        <p:nvSpPr>
          <p:cNvPr id="10" name="Text 7"/>
          <p:cNvSpPr/>
          <p:nvPr/>
        </p:nvSpPr>
        <p:spPr>
          <a:xfrm>
            <a:off x="822960" y="2258568"/>
            <a:ext cx="29169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Формирует управленческий язык для постановки задач, контроля качества, риск-карт и распределения ответственности при применении ИИ.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4096512" y="1691640"/>
            <a:ext cx="321868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96512" y="1691640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3C7456"/>
          </a:solidFill>
          <a:ln w="12700">
            <a:solidFill>
              <a:srgbClr val="3C745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52544" y="185623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Аудитории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4352544" y="2258568"/>
            <a:ext cx="279806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Управленцы, методологи, исследователи, образовательные организации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566928" y="3182112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3182112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3346704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Область знания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822960" y="3749040"/>
            <a:ext cx="29169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Стратегическое управление ИИ; управление, проверка, ответственность и институциональная совместимость.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096512" y="3182112"/>
            <a:ext cx="321868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96512" y="3182112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52544" y="3346704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Библиотека</a:t>
            </a:r>
            <a:endParaRPr lang="en-US" sz="1240" dirty="0"/>
          </a:p>
        </p:txBody>
      </p:sp>
      <p:sp>
        <p:nvSpPr>
          <p:cNvPr id="22" name="Text 19"/>
          <p:cNvSpPr/>
          <p:nvPr/>
        </p:nvSpPr>
        <p:spPr>
          <a:xfrm>
            <a:off x="4352544" y="3749040"/>
            <a:ext cx="279806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governance · риск-карты · институциональное внедрение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566928" y="4663440"/>
            <a:ext cx="6748272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6928" y="4663440"/>
            <a:ext cx="109728" cy="1060704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4828032"/>
            <a:ext cx="6327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Книжный контур</a:t>
            </a:r>
            <a:endParaRPr lang="en-US" sz="1240" dirty="0"/>
          </a:p>
        </p:txBody>
      </p:sp>
      <p:sp>
        <p:nvSpPr>
          <p:cNvPr id="26" name="Text 23"/>
          <p:cNvSpPr/>
          <p:nvPr/>
        </p:nvSpPr>
        <p:spPr>
          <a:xfrm>
            <a:off x="822960" y="5230368"/>
            <a:ext cx="632764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Стратегическое управление ИИ · Атлас рисков ИИ</a:t>
            </a:r>
            <a:endParaRPr lang="en-US" sz="920" dirty="0"/>
          </a:p>
        </p:txBody>
      </p:sp>
      <p:sp>
        <p:nvSpPr>
          <p:cNvPr id="27" name="Text 24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КАФЕДРЫ И КУРСЫ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Структура обучения: от кафедры к проверяемой компетенции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36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Кафедры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719072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19072"/>
            <a:ext cx="109728" cy="960120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83664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Кафедра стратегического управления ИИ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850392" y="2286000"/>
            <a:ext cx="42428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Дисциплинарная зона, методические материалы, лаборатории и связь с библиотекой.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94360" y="2953512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953512"/>
            <a:ext cx="109728" cy="960120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118104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Кафедра риск-карт и сценарного анализа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850392" y="3520440"/>
            <a:ext cx="42428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Исследовательские темы, проектные задания, итоговые работы и книжный корпус.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623560" y="1536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Курсы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23560" y="1719072"/>
            <a:ext cx="5833872" cy="822960"/>
          </a:xfrm>
          <a:prstGeom prst="roundRect">
            <a:avLst>
              <a:gd name="adj" fmla="val 8889"/>
            </a:avLst>
          </a:prstGeom>
          <a:solidFill>
            <a:srgbClr val="EAF2F1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1883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Стратегическое управление ИИ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18653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понятия → карта рисков → практика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23560" y="2798064"/>
            <a:ext cx="5833872" cy="822960"/>
          </a:xfrm>
          <a:prstGeom prst="roundRect">
            <a:avLst>
              <a:gd name="adj" fmla="val 8889"/>
            </a:avLst>
          </a:prstGeom>
          <a:solidFill>
            <a:srgbClr val="EEF3F7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9626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Риск-карты ИИ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9443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архитектура → проверка → ответственность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23560" y="3877056"/>
            <a:ext cx="5833872" cy="822960"/>
          </a:xfrm>
          <a:prstGeom prst="roundRect">
            <a:avLst>
              <a:gd name="adj" fmla="val 8889"/>
            </a:avLst>
          </a:prstGeom>
          <a:solidFill>
            <a:srgbClr val="EAF2F1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4041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governance для управленцев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40233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исследование → итоговая защита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23560" y="5102352"/>
            <a:ext cx="583387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23560" y="5102352"/>
            <a:ext cx="109728" cy="676656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9592" y="5266944"/>
            <a:ext cx="5413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Методика проверки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5879592" y="5669280"/>
            <a:ext cx="5413248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Защита проекта, экспертная рубрика, риск-карта и объяснение human responsibility.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ИССЛЕДОВАТЕЛЬСКАЯ ЛАБОРАТОРИЯ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Лаборатория стратегических сценариев: как факультет производит знание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64208"/>
            <a:ext cx="3840480" cy="44348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pic>
        <p:nvPicPr>
          <p:cNvPr id="6" name="Image 0" descr="C:\Users\Admin\OneDrive\Документы\ASAIAS\presentations\assets\faculty-strategic-ai-man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09928"/>
            <a:ext cx="374904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1755648"/>
            <a:ext cx="438912" cy="438912"/>
          </a:xfrm>
          <a:prstGeom prst="arc">
            <a:avLst/>
          </a:prstGeom>
          <a:noFill/>
          <a:ln w="25400">
            <a:solidFill>
              <a:srgbClr val="163E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76088" y="1682496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76088" y="1682496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32120" y="1847088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ВОПРОС</a:t>
            </a:r>
            <a:endParaRPr lang="en-US" sz="1240" dirty="0"/>
          </a:p>
        </p:txBody>
      </p:sp>
      <p:sp>
        <p:nvSpPr>
          <p:cNvPr id="11" name="Text 8"/>
          <p:cNvSpPr/>
          <p:nvPr/>
        </p:nvSpPr>
        <p:spPr>
          <a:xfrm>
            <a:off x="5532120" y="2249424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модели управленческого контроля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7955280" y="1755648"/>
            <a:ext cx="438912" cy="438912"/>
          </a:xfrm>
          <a:prstGeom prst="arc">
            <a:avLst/>
          </a:prstGeom>
          <a:noFill/>
          <a:ln w="25400">
            <a:solidFill>
              <a:srgbClr val="087F8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22208" y="1682496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22208" y="1682496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0" y="1847088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СЦЕНАРИЙ</a:t>
            </a:r>
            <a:endParaRPr lang="en-US" sz="1240" dirty="0"/>
          </a:p>
        </p:txBody>
      </p:sp>
      <p:sp>
        <p:nvSpPr>
          <p:cNvPr id="16" name="Text 13"/>
          <p:cNvSpPr/>
          <p:nvPr/>
        </p:nvSpPr>
        <p:spPr>
          <a:xfrm>
            <a:off x="8778240" y="2249424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сценарии внедрения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4709160" y="3456432"/>
            <a:ext cx="438912" cy="438912"/>
          </a:xfrm>
          <a:prstGeom prst="arc">
            <a:avLst/>
          </a:prstGeom>
          <a:noFill/>
          <a:ln w="25400">
            <a:solidFill>
              <a:srgbClr val="B276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76088" y="338328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76088" y="3383280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32120" y="354787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РИСК</a:t>
            </a:r>
            <a:endParaRPr lang="en-US" sz="1240" dirty="0"/>
          </a:p>
        </p:txBody>
      </p:sp>
      <p:sp>
        <p:nvSpPr>
          <p:cNvPr id="21" name="Text 18"/>
          <p:cNvSpPr/>
          <p:nvPr/>
        </p:nvSpPr>
        <p:spPr>
          <a:xfrm>
            <a:off x="5532120" y="3950208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карты ответственности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7955280" y="3456432"/>
            <a:ext cx="438912" cy="438912"/>
          </a:xfrm>
          <a:prstGeom prst="arc">
            <a:avLst/>
          </a:prstGeom>
          <a:noFill/>
          <a:ln w="25400">
            <a:solidFill>
              <a:srgbClr val="3C745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522208" y="338328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22208" y="3383280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3C7456"/>
          </a:solidFill>
          <a:ln w="12700">
            <a:solidFill>
              <a:srgbClr val="3C7456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78240" y="354787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ПРОВЕРКА</a:t>
            </a:r>
            <a:endParaRPr lang="en-US" sz="1240" dirty="0"/>
          </a:p>
        </p:txBody>
      </p:sp>
      <p:sp>
        <p:nvSpPr>
          <p:cNvPr id="26" name="Text 23"/>
          <p:cNvSpPr/>
          <p:nvPr/>
        </p:nvSpPr>
        <p:spPr>
          <a:xfrm>
            <a:off x="8778240" y="3950208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оценка институциональных рисков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4709160" y="5285232"/>
            <a:ext cx="6309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09160" y="5285232"/>
            <a:ext cx="109728" cy="658368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5449824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Выход лаборатории</a:t>
            </a:r>
            <a:endParaRPr lang="en-US" sz="1240" dirty="0"/>
          </a:p>
        </p:txBody>
      </p:sp>
      <p:sp>
        <p:nvSpPr>
          <p:cNvPr id="30" name="Text 27"/>
          <p:cNvSpPr/>
          <p:nvPr/>
        </p:nvSpPr>
        <p:spPr>
          <a:xfrm>
            <a:off x="4965192" y="5852160"/>
            <a:ext cx="5888736" cy="-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Исследовательский обзор, методический документ, карта рисков или проектная рамка для учебного применения.</a:t>
            </a:r>
            <a:endParaRPr lang="en-US" sz="920" dirty="0"/>
          </a:p>
        </p:txBody>
      </p:sp>
      <p:sp>
        <p:nvSpPr>
          <p:cNvPr id="31" name="Text 28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ОБРАЗОВАТЕЛЬНАЯ ТРАЕКТОРИЯ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слушатель проходит путь от понятий к итоговой работе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00784"/>
            <a:ext cx="2148840" cy="4498848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pic>
        <p:nvPicPr>
          <p:cNvPr id="6" name="Image 0" descr="C:\Users\Admin\OneDrive\Документы\ASAIAS\presentations\assets\faculty-strategic-ai-man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46504"/>
            <a:ext cx="2057400" cy="44074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944368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EAF2F1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08960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108960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Понять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108960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термины, границы, контекст, ключевые роли и ограничения системы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3108960" y="4096512"/>
            <a:ext cx="1444752" cy="0"/>
          </a:xfrm>
          <a:prstGeom prst="line">
            <a:avLst/>
          </a:prstGeom>
          <a:noFill/>
          <a:ln w="25400">
            <a:solidFill>
              <a:srgbClr val="163E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20640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EEF3F7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85232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285232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Спроектировать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285232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роль человека, данные, процесс, контуры контроля и сценарии применения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5285232" y="4096512"/>
            <a:ext cx="1444752" cy="0"/>
          </a:xfrm>
          <a:prstGeom prst="line">
            <a:avLst/>
          </a:prstGeom>
          <a:noFill/>
          <a:ln w="25400">
            <a:solidFill>
              <a:srgbClr val="087F8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96912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F8EFE5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61504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461504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Проверить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461504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качество, риски, ограничения, верификацию и процедуру экспертной оценки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7461504" y="4096512"/>
            <a:ext cx="1444752" cy="0"/>
          </a:xfrm>
          <a:prstGeom prst="line">
            <a:avLst/>
          </a:prstGeom>
          <a:noFill/>
          <a:ln w="25400">
            <a:solidFill>
              <a:srgbClr val="B276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473184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EDF3EC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37776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637776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Защитить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637776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итоговая работа, аргументация, ответственность и институциональная применимость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9637776" y="4096512"/>
            <a:ext cx="1444752" cy="0"/>
          </a:xfrm>
          <a:prstGeom prst="line">
            <a:avLst/>
          </a:prstGeom>
          <a:noFill/>
          <a:ln w="25400">
            <a:solidFill>
              <a:srgbClr val="3C745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944368" y="4864608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944368" y="4864608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0" y="502920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Итоговая работа</a:t>
            </a:r>
            <a:endParaRPr lang="en-US" sz="1240" dirty="0"/>
          </a:p>
        </p:txBody>
      </p:sp>
      <p:sp>
        <p:nvSpPr>
          <p:cNvPr id="30" name="Text 27"/>
          <p:cNvSpPr/>
          <p:nvPr/>
        </p:nvSpPr>
        <p:spPr>
          <a:xfrm>
            <a:off x="3200400" y="5431536"/>
            <a:ext cx="22768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рамка по теме факультета: Стратегическое управление ИИ; структура, роли, риски и проверка.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5815584" y="4864608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815584" y="4864608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071616" y="502920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Проверка</a:t>
            </a:r>
            <a:endParaRPr lang="en-US" sz="1240" dirty="0"/>
          </a:p>
        </p:txBody>
      </p:sp>
      <p:sp>
        <p:nvSpPr>
          <p:cNvPr id="34" name="Text 31"/>
          <p:cNvSpPr/>
          <p:nvPr/>
        </p:nvSpPr>
        <p:spPr>
          <a:xfrm>
            <a:off x="6071616" y="5431536"/>
            <a:ext cx="22768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Качество, риск-карта, human-in-the-loop, ограничения и защита решения.</a:t>
            </a:r>
            <a:endParaRPr lang="en-US" sz="920" dirty="0"/>
          </a:p>
        </p:txBody>
      </p:sp>
      <p:sp>
        <p:nvSpPr>
          <p:cNvPr id="35" name="Shape 32"/>
          <p:cNvSpPr/>
          <p:nvPr/>
        </p:nvSpPr>
        <p:spPr>
          <a:xfrm>
            <a:off x="8686800" y="4864608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686800" y="4864608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942832" y="502920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Безопасная рамка</a:t>
            </a:r>
            <a:endParaRPr lang="en-US" sz="1240" dirty="0"/>
          </a:p>
        </p:txBody>
      </p:sp>
      <p:sp>
        <p:nvSpPr>
          <p:cNvPr id="38" name="Text 35"/>
          <p:cNvSpPr/>
          <p:nvPr/>
        </p:nvSpPr>
        <p:spPr>
          <a:xfrm>
            <a:off x="8942832" y="5431536"/>
            <a:ext cx="22768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 обещаний статуса, партнерств, аккредитации или гарантированного результата.</a:t>
            </a:r>
            <a:endParaRPr lang="en-US" sz="920" dirty="0"/>
          </a:p>
        </p:txBody>
      </p:sp>
      <p:sp>
        <p:nvSpPr>
          <p:cNvPr id="39" name="Text 36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40" name="Text 37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Проектная академическая рамка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Факультет стратегического управления ИИ</dc:title>
  <dc:subject>Факультет стратегического управления ИИ</dc:subject>
  <dc:creator>Академия стратегического управления ИИ и автономных систем</dc:creator>
  <cp:lastModifiedBy>Академия стратегического управления ИИ и автономных систем</cp:lastModifiedBy>
  <cp:revision>1</cp:revision>
  <dcterms:created xsi:type="dcterms:W3CDTF">2026-05-01T09:06:18Z</dcterms:created>
  <dcterms:modified xsi:type="dcterms:W3CDTF">2026-05-01T09:06:18Z</dcterms:modified>
</cp:coreProperties>
</file>