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OneDrive\Документы\ASAIAS\presentations\assets\faculty-ai-governance-public-consequen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719">
              <a:alpha val="72000"/>
            </a:srgbClr>
          </a:solidFill>
          <a:ln w="12700">
            <a:solidFill>
              <a:srgbClr val="101719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02920" y="438912"/>
            <a:ext cx="146304" cy="5806440"/>
          </a:xfrm>
          <a:prstGeom prst="roundRect">
            <a:avLst>
              <a:gd name="adj" fmla="val 25000"/>
            </a:avLst>
          </a:prstGeom>
          <a:solidFill>
            <a:srgbClr val="087F82"/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62179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DDED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Академия стратегического управления ИИ и автономных систем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804672" y="1042416"/>
            <a:ext cx="6995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Факультет AI governance и общественных последствий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2816352"/>
            <a:ext cx="6217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8F3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Исследует правила, последствия, human responsibility и общественные эффекты внедрения ИИ.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4005072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3C7456">
              <a:alpha val="95000"/>
            </a:srgbClr>
          </a:solidFill>
          <a:ln w="12700">
            <a:solidFill>
              <a:srgbClr val="3C7456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4096512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проектная гипотеза</a:t>
            </a:r>
            <a:endParaRPr lang="en-US" sz="760" dirty="0"/>
          </a:p>
        </p:txBody>
      </p:sp>
      <p:sp>
        <p:nvSpPr>
          <p:cNvPr id="10" name="Shape 7"/>
          <p:cNvSpPr/>
          <p:nvPr/>
        </p:nvSpPr>
        <p:spPr>
          <a:xfrm>
            <a:off x="2523744" y="4005072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087F82">
              <a:alpha val="95000"/>
            </a:srgbClr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33472" y="4096512"/>
            <a:ext cx="832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слайдов</a:t>
            </a:r>
            <a:endParaRPr lang="en-US" sz="760" dirty="0"/>
          </a:p>
        </p:txBody>
      </p:sp>
      <p:sp>
        <p:nvSpPr>
          <p:cNvPr id="12" name="Shape 9"/>
          <p:cNvSpPr/>
          <p:nvPr/>
        </p:nvSpPr>
        <p:spPr>
          <a:xfrm>
            <a:off x="3730752" y="4005072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B27633">
              <a:alpha val="95000"/>
            </a:srgbClr>
          </a:solidFill>
          <a:ln w="12700">
            <a:solidFill>
              <a:srgbClr val="B276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0" y="4096512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без неподтвержденных статусов</a:t>
            </a:r>
            <a:endParaRPr lang="en-US" sz="7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C7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АКАДЕМИЧЕСКАЯ РОЛЬ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governance: зачем факультет нужен академии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CAD7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5240" y="1645920"/>
            <a:ext cx="3931920" cy="4315968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pic>
        <p:nvPicPr>
          <p:cNvPr id="6" name="Image 0" descr="C:\Users\Admin\OneDrive\Документы\ASAIAS\presentations\assets\faculty-ai-governance-public-consequen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691640"/>
            <a:ext cx="3840480" cy="42245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69164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928" y="1691640"/>
            <a:ext cx="109728" cy="1234440"/>
          </a:xfrm>
          <a:prstGeom prst="roundRect">
            <a:avLst>
              <a:gd name="adj" fmla="val 33333"/>
            </a:avLst>
          </a:prstGeom>
          <a:solidFill>
            <a:srgbClr val="163E5A"/>
          </a:solidFill>
          <a:ln w="12700">
            <a:solidFill>
              <a:srgbClr val="163E5A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856232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Миссия</a:t>
            </a:r>
            <a:endParaRPr lang="en-US" sz="1240" dirty="0"/>
          </a:p>
        </p:txBody>
      </p:sp>
      <p:sp>
        <p:nvSpPr>
          <p:cNvPr id="10" name="Text 7"/>
          <p:cNvSpPr/>
          <p:nvPr/>
        </p:nvSpPr>
        <p:spPr>
          <a:xfrm>
            <a:off x="822960" y="2258568"/>
            <a:ext cx="291693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Исследует правила, последствия, human responsibility и общественные эффекты внедрения ИИ.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4096512" y="1691640"/>
            <a:ext cx="321868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096512" y="1691640"/>
            <a:ext cx="109728" cy="1234440"/>
          </a:xfrm>
          <a:prstGeom prst="roundRect">
            <a:avLst>
              <a:gd name="adj" fmla="val 33333"/>
            </a:avLst>
          </a:prstGeom>
          <a:solidFill>
            <a:srgbClr val="3C7456"/>
          </a:solidFill>
          <a:ln w="12700">
            <a:solidFill>
              <a:srgbClr val="3C7456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52544" y="1856232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Аудитории</a:t>
            </a:r>
            <a:endParaRPr lang="en-US" sz="1240" dirty="0"/>
          </a:p>
        </p:txBody>
      </p:sp>
      <p:sp>
        <p:nvSpPr>
          <p:cNvPr id="14" name="Text 11"/>
          <p:cNvSpPr/>
          <p:nvPr/>
        </p:nvSpPr>
        <p:spPr>
          <a:xfrm>
            <a:off x="4352544" y="2258568"/>
            <a:ext cx="279806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Исследователи, управленцы, общественные структуры, экспертные площадки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566928" y="3182112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6928" y="3182112"/>
            <a:ext cx="109728" cy="1234440"/>
          </a:xfrm>
          <a:prstGeom prst="roundRect">
            <a:avLst>
              <a:gd name="adj" fmla="val 33333"/>
            </a:avLst>
          </a:prstGeom>
          <a:solidFill>
            <a:srgbClr val="087F82"/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3346704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Область знания</a:t>
            </a:r>
            <a:endParaRPr lang="en-US" sz="1240" dirty="0"/>
          </a:p>
        </p:txBody>
      </p:sp>
      <p:sp>
        <p:nvSpPr>
          <p:cNvPr id="18" name="Text 15"/>
          <p:cNvSpPr/>
          <p:nvPr/>
        </p:nvSpPr>
        <p:spPr>
          <a:xfrm>
            <a:off x="822960" y="3749040"/>
            <a:ext cx="291693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governance; управление, проверка, ответственность и институциональная совместимость.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096512" y="3182112"/>
            <a:ext cx="321868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096512" y="3182112"/>
            <a:ext cx="109728" cy="1234440"/>
          </a:xfrm>
          <a:prstGeom prst="roundRect">
            <a:avLst>
              <a:gd name="adj" fmla="val 33333"/>
            </a:avLst>
          </a:prstGeom>
          <a:solidFill>
            <a:srgbClr val="B27633"/>
          </a:solidFill>
          <a:ln w="12700">
            <a:solidFill>
              <a:srgbClr val="B27633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52544" y="3346704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Библиотека</a:t>
            </a:r>
            <a:endParaRPr lang="en-US" sz="1240" dirty="0"/>
          </a:p>
        </p:txBody>
      </p:sp>
      <p:sp>
        <p:nvSpPr>
          <p:cNvPr id="22" name="Text 19"/>
          <p:cNvSpPr/>
          <p:nvPr/>
        </p:nvSpPr>
        <p:spPr>
          <a:xfrm>
            <a:off x="4352544" y="3749040"/>
            <a:ext cx="279806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governance · human responsibility · исследовательские обзоры</a:t>
            </a:r>
            <a:endParaRPr lang="en-US" sz="920" dirty="0"/>
          </a:p>
        </p:txBody>
      </p:sp>
      <p:sp>
        <p:nvSpPr>
          <p:cNvPr id="23" name="Shape 20"/>
          <p:cNvSpPr/>
          <p:nvPr/>
        </p:nvSpPr>
        <p:spPr>
          <a:xfrm>
            <a:off x="566928" y="4663440"/>
            <a:ext cx="6748272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66928" y="4663440"/>
            <a:ext cx="109728" cy="1060704"/>
          </a:xfrm>
          <a:prstGeom prst="roundRect">
            <a:avLst>
              <a:gd name="adj" fmla="val 33333"/>
            </a:avLst>
          </a:prstGeom>
          <a:solidFill>
            <a:srgbClr val="163E5A"/>
          </a:solidFill>
          <a:ln w="12700">
            <a:solidFill>
              <a:srgbClr val="163E5A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4828032"/>
            <a:ext cx="6327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Книжный контур</a:t>
            </a:r>
            <a:endParaRPr lang="en-US" sz="1240" dirty="0"/>
          </a:p>
        </p:txBody>
      </p:sp>
      <p:sp>
        <p:nvSpPr>
          <p:cNvPr id="26" name="Text 23"/>
          <p:cNvSpPr/>
          <p:nvPr/>
        </p:nvSpPr>
        <p:spPr>
          <a:xfrm>
            <a:off x="822960" y="5230368"/>
            <a:ext cx="6327648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governance: академическая рамка · Человеческая ответственность в ИИ</a:t>
            </a:r>
            <a:endParaRPr lang="en-US" sz="920" dirty="0"/>
          </a:p>
        </p:txBody>
      </p:sp>
      <p:sp>
        <p:nvSpPr>
          <p:cNvPr id="27" name="Text 24"/>
          <p:cNvSpPr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Проектная академическая рамка · без заявлений об аккредитации, партнерствах или гарантиях</a:t>
            </a:r>
            <a:endParaRPr lang="en-US" sz="720" dirty="0"/>
          </a:p>
        </p:txBody>
      </p:sp>
      <p:sp>
        <p:nvSpPr>
          <p:cNvPr id="28" name="Text 25"/>
          <p:cNvSpPr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3E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C7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КАФЕДРЫ И КУРСЫ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Структура обучения: от кафедры к проверяемой компетенции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CAD7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361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C7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Кафедры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719072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719072"/>
            <a:ext cx="109728" cy="960120"/>
          </a:xfrm>
          <a:prstGeom prst="roundRect">
            <a:avLst>
              <a:gd name="adj" fmla="val 33333"/>
            </a:avLst>
          </a:prstGeom>
          <a:solidFill>
            <a:srgbClr val="163E5A"/>
          </a:solidFill>
          <a:ln w="12700">
            <a:solidFill>
              <a:srgbClr val="163E5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883664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Кафедра AI governance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850392" y="2286000"/>
            <a:ext cx="424281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Дисциплинарная зона, методические материалы, лаборатории и связь с библиотекой.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594360" y="2953512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953512"/>
            <a:ext cx="109728" cy="960120"/>
          </a:xfrm>
          <a:prstGeom prst="roundRect">
            <a:avLst>
              <a:gd name="adj" fmla="val 33333"/>
            </a:avLst>
          </a:prstGeom>
          <a:solidFill>
            <a:srgbClr val="087F82"/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118104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Кафедра human responsibility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850392" y="3520440"/>
            <a:ext cx="424281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Исследовательские темы, проектные задания, итоговые работы и книжный корпус.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5623560" y="15361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C7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Курсы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23560" y="1719072"/>
            <a:ext cx="5833872" cy="822960"/>
          </a:xfrm>
          <a:prstGeom prst="roundRect">
            <a:avLst>
              <a:gd name="adj" fmla="val 8889"/>
            </a:avLst>
          </a:prstGeom>
          <a:solidFill>
            <a:srgbClr val="EAF2F1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33872" y="18836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governance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21040" y="186537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понятия → карта рисков → практика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23560" y="2798064"/>
            <a:ext cx="5833872" cy="822960"/>
          </a:xfrm>
          <a:prstGeom prst="roundRect">
            <a:avLst>
              <a:gd name="adj" fmla="val 8889"/>
            </a:avLst>
          </a:prstGeom>
          <a:solidFill>
            <a:srgbClr val="EEF3F7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33872" y="29626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Человеческая ответственность в ИИ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21040" y="29443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архитектура → проверка → ответственность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23560" y="3877056"/>
            <a:ext cx="5833872" cy="822960"/>
          </a:xfrm>
          <a:prstGeom prst="roundRect">
            <a:avLst>
              <a:gd name="adj" fmla="val 8889"/>
            </a:avLst>
          </a:prstGeom>
          <a:solidFill>
            <a:srgbClr val="EAF2F1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33872" y="40416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Общественные последствия ИИ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21040" y="40233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исследование → итоговая защита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23560" y="5102352"/>
            <a:ext cx="583387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23560" y="5102352"/>
            <a:ext cx="109728" cy="676656"/>
          </a:xfrm>
          <a:prstGeom prst="roundRect">
            <a:avLst>
              <a:gd name="adj" fmla="val 33333"/>
            </a:avLst>
          </a:prstGeom>
          <a:solidFill>
            <a:srgbClr val="B27633"/>
          </a:solidFill>
          <a:ln w="12700">
            <a:solidFill>
              <a:srgbClr val="B276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79592" y="5266944"/>
            <a:ext cx="5413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Методика проверки</a:t>
            </a:r>
            <a:endParaRPr lang="en-US" sz="1240" dirty="0"/>
          </a:p>
        </p:txBody>
      </p:sp>
      <p:sp>
        <p:nvSpPr>
          <p:cNvPr id="27" name="Text 25"/>
          <p:cNvSpPr/>
          <p:nvPr/>
        </p:nvSpPr>
        <p:spPr>
          <a:xfrm>
            <a:off x="5879592" y="5669280"/>
            <a:ext cx="5413248" cy="-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Защита проекта, экспертная рубрика, риск-карта и объяснение human responsibility.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Проектная академическая рамка · без заявлений об аккредитации, партнерствах или гарантиях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3E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C7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ИССЛЕДОВАТЕЛЬСКАЯ ЛАБОРАТОРИЯ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Лаборатория governance-моделей: как факультет производит знание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CAD7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64208"/>
            <a:ext cx="3840480" cy="44348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pic>
        <p:nvPicPr>
          <p:cNvPr id="6" name="Image 0" descr="C:\Users\Admin\OneDrive\Документы\ASAIAS\presentations\assets\faculty-ai-governance-public-consequen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09928"/>
            <a:ext cx="3749040" cy="4343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09160" y="1755648"/>
            <a:ext cx="438912" cy="438912"/>
          </a:xfrm>
          <a:prstGeom prst="arc">
            <a:avLst/>
          </a:prstGeom>
          <a:noFill/>
          <a:ln w="25400">
            <a:solidFill>
              <a:srgbClr val="163E5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276088" y="1682496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76088" y="1682496"/>
            <a:ext cx="109728" cy="1024128"/>
          </a:xfrm>
          <a:prstGeom prst="roundRect">
            <a:avLst>
              <a:gd name="adj" fmla="val 33333"/>
            </a:avLst>
          </a:prstGeom>
          <a:solidFill>
            <a:srgbClr val="163E5A"/>
          </a:solidFill>
          <a:ln w="12700">
            <a:solidFill>
              <a:srgbClr val="163E5A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32120" y="1847088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ВОПРОС</a:t>
            </a:r>
            <a:endParaRPr lang="en-US" sz="1240" dirty="0"/>
          </a:p>
        </p:txBody>
      </p:sp>
      <p:sp>
        <p:nvSpPr>
          <p:cNvPr id="11" name="Text 8"/>
          <p:cNvSpPr/>
          <p:nvPr/>
        </p:nvSpPr>
        <p:spPr>
          <a:xfrm>
            <a:off x="5532120" y="2249424"/>
            <a:ext cx="209397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общественные последствия</a:t>
            </a:r>
            <a:endParaRPr lang="en-US" sz="920" dirty="0"/>
          </a:p>
        </p:txBody>
      </p:sp>
      <p:sp>
        <p:nvSpPr>
          <p:cNvPr id="12" name="Shape 9"/>
          <p:cNvSpPr/>
          <p:nvPr/>
        </p:nvSpPr>
        <p:spPr>
          <a:xfrm>
            <a:off x="7955280" y="1755648"/>
            <a:ext cx="438912" cy="438912"/>
          </a:xfrm>
          <a:prstGeom prst="arc">
            <a:avLst/>
          </a:prstGeom>
          <a:noFill/>
          <a:ln w="25400">
            <a:solidFill>
              <a:srgbClr val="087F8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522208" y="1682496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22208" y="1682496"/>
            <a:ext cx="109728" cy="1024128"/>
          </a:xfrm>
          <a:prstGeom prst="roundRect">
            <a:avLst>
              <a:gd name="adj" fmla="val 33333"/>
            </a:avLst>
          </a:prstGeom>
          <a:solidFill>
            <a:srgbClr val="087F82"/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78240" y="1847088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СЦЕНАРИЙ</a:t>
            </a:r>
            <a:endParaRPr lang="en-US" sz="1240" dirty="0"/>
          </a:p>
        </p:txBody>
      </p:sp>
      <p:sp>
        <p:nvSpPr>
          <p:cNvPr id="16" name="Text 13"/>
          <p:cNvSpPr/>
          <p:nvPr/>
        </p:nvSpPr>
        <p:spPr>
          <a:xfrm>
            <a:off x="8778240" y="2249424"/>
            <a:ext cx="209397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governance-модели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4709160" y="3456432"/>
            <a:ext cx="438912" cy="438912"/>
          </a:xfrm>
          <a:prstGeom prst="arc">
            <a:avLst/>
          </a:prstGeom>
          <a:noFill/>
          <a:ln w="25400">
            <a:solidFill>
              <a:srgbClr val="B2763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276088" y="3383280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76088" y="3383280"/>
            <a:ext cx="109728" cy="1024128"/>
          </a:xfrm>
          <a:prstGeom prst="roundRect">
            <a:avLst>
              <a:gd name="adj" fmla="val 33333"/>
            </a:avLst>
          </a:prstGeom>
          <a:solidFill>
            <a:srgbClr val="B27633"/>
          </a:solidFill>
          <a:ln w="12700">
            <a:solidFill>
              <a:srgbClr val="B27633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32120" y="3547872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РИСК</a:t>
            </a:r>
            <a:endParaRPr lang="en-US" sz="1240" dirty="0"/>
          </a:p>
        </p:txBody>
      </p:sp>
      <p:sp>
        <p:nvSpPr>
          <p:cNvPr id="21" name="Text 18"/>
          <p:cNvSpPr/>
          <p:nvPr/>
        </p:nvSpPr>
        <p:spPr>
          <a:xfrm>
            <a:off x="5532120" y="3950208"/>
            <a:ext cx="209397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ответственность человека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7955280" y="3456432"/>
            <a:ext cx="438912" cy="438912"/>
          </a:xfrm>
          <a:prstGeom prst="arc">
            <a:avLst/>
          </a:prstGeom>
          <a:noFill/>
          <a:ln w="25400">
            <a:solidFill>
              <a:srgbClr val="3C745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522208" y="3383280"/>
            <a:ext cx="25146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522208" y="3383280"/>
            <a:ext cx="109728" cy="1024128"/>
          </a:xfrm>
          <a:prstGeom prst="roundRect">
            <a:avLst>
              <a:gd name="adj" fmla="val 33333"/>
            </a:avLst>
          </a:prstGeom>
          <a:solidFill>
            <a:srgbClr val="3C7456"/>
          </a:solidFill>
          <a:ln w="12700">
            <a:solidFill>
              <a:srgbClr val="3C7456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778240" y="3547872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ПРОВЕРКА</a:t>
            </a:r>
            <a:endParaRPr lang="en-US" sz="1240" dirty="0"/>
          </a:p>
        </p:txBody>
      </p:sp>
      <p:sp>
        <p:nvSpPr>
          <p:cNvPr id="26" name="Text 23"/>
          <p:cNvSpPr/>
          <p:nvPr/>
        </p:nvSpPr>
        <p:spPr>
          <a:xfrm>
            <a:off x="8778240" y="3950208"/>
            <a:ext cx="209397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институциональная отчетность</a:t>
            </a:r>
            <a:endParaRPr lang="en-US" sz="920" dirty="0"/>
          </a:p>
        </p:txBody>
      </p:sp>
      <p:sp>
        <p:nvSpPr>
          <p:cNvPr id="27" name="Shape 24"/>
          <p:cNvSpPr/>
          <p:nvPr/>
        </p:nvSpPr>
        <p:spPr>
          <a:xfrm>
            <a:off x="4709160" y="5285232"/>
            <a:ext cx="6309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709160" y="5285232"/>
            <a:ext cx="109728" cy="658368"/>
          </a:xfrm>
          <a:prstGeom prst="roundRect">
            <a:avLst>
              <a:gd name="adj" fmla="val 33333"/>
            </a:avLst>
          </a:prstGeom>
          <a:solidFill>
            <a:srgbClr val="163E5A"/>
          </a:solidFill>
          <a:ln w="12700">
            <a:solidFill>
              <a:srgbClr val="163E5A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65192" y="5449824"/>
            <a:ext cx="5888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Выход лаборатории</a:t>
            </a:r>
            <a:endParaRPr lang="en-US" sz="1240" dirty="0"/>
          </a:p>
        </p:txBody>
      </p:sp>
      <p:sp>
        <p:nvSpPr>
          <p:cNvPr id="30" name="Text 27"/>
          <p:cNvSpPr/>
          <p:nvPr/>
        </p:nvSpPr>
        <p:spPr>
          <a:xfrm>
            <a:off x="4965192" y="5852160"/>
            <a:ext cx="5888736" cy="-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Исследовательский обзор, методический документ, карта рисков или проектная рамка для учебного применения.</a:t>
            </a:r>
            <a:endParaRPr lang="en-US" sz="920" dirty="0"/>
          </a:p>
        </p:txBody>
      </p:sp>
      <p:sp>
        <p:nvSpPr>
          <p:cNvPr id="31" name="Text 28"/>
          <p:cNvSpPr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Проектная академическая рамка · без заявлений об аккредитации, партнерствах или гарантиях</a:t>
            </a:r>
            <a:endParaRPr lang="en-US" sz="720" dirty="0"/>
          </a:p>
        </p:txBody>
      </p:sp>
      <p:sp>
        <p:nvSpPr>
          <p:cNvPr id="32" name="Text 29"/>
          <p:cNvSpPr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3E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C74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ОБРАЗОВАТЕЛЬНАЯ ТРАЕКТОРИЯ</a:t>
            </a:r>
            <a:endParaRPr lang="en-US" sz="88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 слушатель проходит путь от понятий к итоговой работе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55680" cy="0"/>
          </a:xfrm>
          <a:prstGeom prst="line">
            <a:avLst/>
          </a:prstGeom>
          <a:noFill/>
          <a:ln w="12700">
            <a:solidFill>
              <a:srgbClr val="CAD7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00784"/>
            <a:ext cx="2148840" cy="4498848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pic>
        <p:nvPicPr>
          <p:cNvPr id="6" name="Image 0" descr="C:\Users\Admin\OneDrive\Документы\ASAIAS\presentations\assets\faculty-ai-governance-public-consequen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46504"/>
            <a:ext cx="2057400" cy="44074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944368" y="1901952"/>
            <a:ext cx="1847088" cy="2514600"/>
          </a:xfrm>
          <a:prstGeom prst="roundRect">
            <a:avLst>
              <a:gd name="adj" fmla="val 3960"/>
            </a:avLst>
          </a:prstGeom>
          <a:solidFill>
            <a:srgbClr val="EAF2F1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108960" y="208483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108960" y="265176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Понять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108960" y="3127248"/>
            <a:ext cx="14813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термины, границы, контекст, ключевые роли и ограничения системы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3108960" y="4096512"/>
            <a:ext cx="1444752" cy="0"/>
          </a:xfrm>
          <a:prstGeom prst="line">
            <a:avLst/>
          </a:prstGeom>
          <a:noFill/>
          <a:ln w="25400">
            <a:solidFill>
              <a:srgbClr val="163E5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120640" y="1901952"/>
            <a:ext cx="1847088" cy="2514600"/>
          </a:xfrm>
          <a:prstGeom prst="roundRect">
            <a:avLst>
              <a:gd name="adj" fmla="val 3960"/>
            </a:avLst>
          </a:prstGeom>
          <a:solidFill>
            <a:srgbClr val="EEF3F7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85232" y="208483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285232" y="265176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Спроектировать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285232" y="3127248"/>
            <a:ext cx="14813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роль человека, данные, процесс, контуры контроля и сценарии применения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5285232" y="4096512"/>
            <a:ext cx="1444752" cy="0"/>
          </a:xfrm>
          <a:prstGeom prst="line">
            <a:avLst/>
          </a:prstGeom>
          <a:noFill/>
          <a:ln w="25400">
            <a:solidFill>
              <a:srgbClr val="087F8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296912" y="1901952"/>
            <a:ext cx="1847088" cy="2514600"/>
          </a:xfrm>
          <a:prstGeom prst="roundRect">
            <a:avLst>
              <a:gd name="adj" fmla="val 3960"/>
            </a:avLst>
          </a:prstGeom>
          <a:solidFill>
            <a:srgbClr val="F8EFE5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61504" y="208483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461504" y="265176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Проверить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461504" y="3127248"/>
            <a:ext cx="14813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качество, риски, ограничения, верификацию и процедуру экспертной оценки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7461504" y="4096512"/>
            <a:ext cx="1444752" cy="0"/>
          </a:xfrm>
          <a:prstGeom prst="line">
            <a:avLst/>
          </a:prstGeom>
          <a:noFill/>
          <a:ln w="25400">
            <a:solidFill>
              <a:srgbClr val="B276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473184" y="1901952"/>
            <a:ext cx="1847088" cy="2514600"/>
          </a:xfrm>
          <a:prstGeom prst="roundRect">
            <a:avLst>
              <a:gd name="adj" fmla="val 3960"/>
            </a:avLst>
          </a:prstGeom>
          <a:solidFill>
            <a:srgbClr val="EDF3EC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37776" y="208483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E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637776" y="265176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Защитить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637776" y="3127248"/>
            <a:ext cx="14813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итоговая работа, аргументация, ответственность и институциональная применимость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9637776" y="4096512"/>
            <a:ext cx="1444752" cy="0"/>
          </a:xfrm>
          <a:prstGeom prst="line">
            <a:avLst/>
          </a:prstGeom>
          <a:noFill/>
          <a:ln w="25400">
            <a:solidFill>
              <a:srgbClr val="3C745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944368" y="4864608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944368" y="4864608"/>
            <a:ext cx="109728" cy="914400"/>
          </a:xfrm>
          <a:prstGeom prst="roundRect">
            <a:avLst>
              <a:gd name="adj" fmla="val 33333"/>
            </a:avLst>
          </a:prstGeom>
          <a:solidFill>
            <a:srgbClr val="163E5A"/>
          </a:solidFill>
          <a:ln w="12700">
            <a:solidFill>
              <a:srgbClr val="163E5A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00400" y="5029200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Итоговая работа</a:t>
            </a:r>
            <a:endParaRPr lang="en-US" sz="1240" dirty="0"/>
          </a:p>
        </p:txBody>
      </p:sp>
      <p:sp>
        <p:nvSpPr>
          <p:cNvPr id="30" name="Text 27"/>
          <p:cNvSpPr/>
          <p:nvPr/>
        </p:nvSpPr>
        <p:spPr>
          <a:xfrm>
            <a:off x="3200400" y="5431536"/>
            <a:ext cx="227685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Проектная рамка по теме факультета: AI governance; структура, роли, риски и проверка.</a:t>
            </a:r>
            <a:endParaRPr lang="en-US" sz="920" dirty="0"/>
          </a:p>
        </p:txBody>
      </p:sp>
      <p:sp>
        <p:nvSpPr>
          <p:cNvPr id="31" name="Shape 28"/>
          <p:cNvSpPr/>
          <p:nvPr/>
        </p:nvSpPr>
        <p:spPr>
          <a:xfrm>
            <a:off x="5815584" y="4864608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815584" y="4864608"/>
            <a:ext cx="109728" cy="914400"/>
          </a:xfrm>
          <a:prstGeom prst="roundRect">
            <a:avLst>
              <a:gd name="adj" fmla="val 33333"/>
            </a:avLst>
          </a:prstGeom>
          <a:solidFill>
            <a:srgbClr val="087F82"/>
          </a:solidFill>
          <a:ln w="12700">
            <a:solidFill>
              <a:srgbClr val="087F82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071616" y="5029200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Проверка</a:t>
            </a:r>
            <a:endParaRPr lang="en-US" sz="1240" dirty="0"/>
          </a:p>
        </p:txBody>
      </p:sp>
      <p:sp>
        <p:nvSpPr>
          <p:cNvPr id="34" name="Text 31"/>
          <p:cNvSpPr/>
          <p:nvPr/>
        </p:nvSpPr>
        <p:spPr>
          <a:xfrm>
            <a:off x="6071616" y="5431536"/>
            <a:ext cx="227685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Качество, риск-карта, human-in-the-loop, ограничения и защита решения.</a:t>
            </a:r>
            <a:endParaRPr lang="en-US" sz="920" dirty="0"/>
          </a:p>
        </p:txBody>
      </p:sp>
      <p:sp>
        <p:nvSpPr>
          <p:cNvPr id="35" name="Shape 32"/>
          <p:cNvSpPr/>
          <p:nvPr/>
        </p:nvSpPr>
        <p:spPr>
          <a:xfrm>
            <a:off x="8686800" y="4864608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AD7D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686800" y="4864608"/>
            <a:ext cx="109728" cy="914400"/>
          </a:xfrm>
          <a:prstGeom prst="roundRect">
            <a:avLst>
              <a:gd name="adj" fmla="val 33333"/>
            </a:avLst>
          </a:prstGeom>
          <a:solidFill>
            <a:srgbClr val="B27633"/>
          </a:solidFill>
          <a:ln w="12700">
            <a:solidFill>
              <a:srgbClr val="B27633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942832" y="5029200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0171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Безопасная рамка</a:t>
            </a:r>
            <a:endParaRPr lang="en-US" sz="1240" dirty="0"/>
          </a:p>
        </p:txBody>
      </p:sp>
      <p:sp>
        <p:nvSpPr>
          <p:cNvPr id="38" name="Text 35"/>
          <p:cNvSpPr/>
          <p:nvPr/>
        </p:nvSpPr>
        <p:spPr>
          <a:xfrm>
            <a:off x="8942832" y="5431536"/>
            <a:ext cx="227685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Без обещаний статуса, партнерств, аккредитации или гарантированного результата.</a:t>
            </a:r>
            <a:endParaRPr lang="en-US" sz="920" dirty="0"/>
          </a:p>
        </p:txBody>
      </p:sp>
      <p:sp>
        <p:nvSpPr>
          <p:cNvPr id="39" name="Text 36"/>
          <p:cNvSpPr/>
          <p:nvPr/>
        </p:nvSpPr>
        <p:spPr>
          <a:xfrm>
            <a:off x="502920" y="6510528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86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Проектная академическая рамка · без заявлений об аккредитации, партнерствах или гарантиях</a:t>
            </a:r>
            <a:endParaRPr lang="en-US" sz="720" dirty="0"/>
          </a:p>
        </p:txBody>
      </p:sp>
      <p:sp>
        <p:nvSpPr>
          <p:cNvPr id="40" name="Text 37"/>
          <p:cNvSpPr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3E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Проектная академическая рамка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Факультет AI governance и общественных последствий</dc:title>
  <dc:subject>Факультет AI governance и общественных последствий</dc:subject>
  <dc:creator>Академия стратегического управления ИИ и автономных систем</dc:creator>
  <cp:lastModifiedBy>Академия стратегического управления ИИ и автономных систем</cp:lastModifiedBy>
  <cp:revision>1</cp:revision>
  <dcterms:created xsi:type="dcterms:W3CDTF">2026-05-01T09:06:19Z</dcterms:created>
  <dcterms:modified xsi:type="dcterms:W3CDTF">2026-05-01T09:06:19Z</dcterms:modified>
</cp:coreProperties>
</file>